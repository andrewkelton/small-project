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8" r:id="rId2"/>
    <p:sldId id="263" r:id="rId3"/>
    <p:sldId id="268" r:id="rId4"/>
    <p:sldId id="264" r:id="rId5"/>
    <p:sldId id="260" r:id="rId6"/>
    <p:sldId id="262" r:id="rId7"/>
    <p:sldId id="261" r:id="rId8"/>
    <p:sldId id="270" r:id="rId9"/>
    <p:sldId id="266" r:id="rId10"/>
    <p:sldId id="272" r:id="rId11"/>
    <p:sldId id="265" r:id="rId12"/>
    <p:sldId id="273" r:id="rId13"/>
    <p:sldId id="274" r:id="rId14"/>
    <p:sldId id="267" r:id="rId15"/>
    <p:sldId id="276" r:id="rId16"/>
    <p:sldId id="275" r:id="rId17"/>
    <p:sldId id="269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55CE"/>
    <a:srgbClr val="1255CD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08"/>
    <p:restoredTop sz="94618"/>
  </p:normalViewPr>
  <p:slideViewPr>
    <p:cSldViewPr snapToGrid="0">
      <p:cViewPr varScale="1">
        <p:scale>
          <a:sx n="104" d="100"/>
          <a:sy n="104" d="100"/>
        </p:scale>
        <p:origin x="4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DCE7E-3C3A-C84E-85FE-E5F5E5457DA5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3DC12-BB0A-C347-90EA-A6929897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15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0DBD688-CB4B-AA6E-9C88-CD5C04B50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6623113-5F21-B36D-5537-F53CB8631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6A34A121-4803-88BC-54F6-D0EF13BDB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4951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3DC12-BB0A-C347-90EA-A6929897958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05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3A71F-E69E-AAB0-08DF-A35DECD02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74B1C-E8ED-1311-F8CB-1BEA200FF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E5791-8A4A-742C-75F1-077F12EDB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D079B-2C39-811C-A8AF-A924E0A1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1ADBC-F5EB-CDB0-DD1E-F933EF67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6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B755-1D12-FA92-EEB0-A98A3F0E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13466-327F-7ED4-C215-4F1675B28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59515-5C02-6C26-1291-32E6C383C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35C3A-7359-0F5D-C262-98E92C5B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44645-22FA-9787-03D9-EEA7F18F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54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F7B0-4B3C-694A-B893-5166B372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CF2BE-DC52-26F1-B9FC-A25D33E95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95D6E-9D5A-B7F6-9B87-6FB8FEB3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2CD8C-83F2-65FD-7262-E1D86C06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57EF1-7353-F899-D0A7-B6AEB2C9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2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4092-FB36-FDB1-D157-B938F361A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6CF4-8AAE-280D-41E2-B8EEC3E88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55CC1-E892-801A-2B30-DE2FF1496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C2D8D-EFBB-8F60-7145-62A9BDA2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E434B-43B7-8F64-2D3D-0013C92E3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0644F-18AB-6872-EF0D-516C4E36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22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F852-635D-7104-053D-16566D2F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DBD5C-A73F-9EF4-0D80-C5CE84A4A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EE57B-35C2-A1FA-EBE0-68198E265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D1FD4-EABD-D0F1-C7C1-25A1E4284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D9736-B7C4-E84B-48DE-9C8FB099C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A20C5B-F804-6199-AABC-303B59A0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71228-8E23-582E-AA58-71422C49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FE7A5-5624-54BA-C2D3-BBF4B0AE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1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0685-173F-F317-153E-B26035AE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0043B-BE4B-9968-2DDA-9607704F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BA325-B7FF-1E59-5BB7-C96916789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3ADCB-B70F-9631-965E-78D7A439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67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14165-60DD-A709-8A81-FC5549E5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62A43-BD3A-1B93-FCA9-54C66146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E0EF-DEB7-12B8-6A61-EF0A3F9E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3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9F6C-8B09-5589-3116-29CB9FC25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729FE-DEC9-DB0E-59C2-BECA2AA18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CE077-3EAE-6039-0C83-52367D67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1B48-FAAA-4DA0-D170-94E633FF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EB01D-96D3-62EC-6678-319A4E78F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273F6-77C5-3CD1-AB37-6B28B0DF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0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2CA5-B977-8484-7034-FFF7F12D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BB3B1-00A2-C4DA-A765-6F73DA960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D9B70-9AC8-F7C9-DCCB-A988C66AC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FA97B-8727-6783-C131-C199EF09A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38BF-98B5-4DF3-3E57-4B6A1ED7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A76AA-CAE9-6051-BA04-160076442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8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0A22-0A03-FECA-F404-4A51857B3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18119-FD83-2F50-8F89-2C259FB04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25C82-3CE4-8917-0183-9F257EEF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FA3A4-2C48-5FC7-04BA-462C1E2A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CE7CE-1A88-336F-31E5-84DA0AC93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90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B5BE68-A40F-37C2-5FE2-A89ECFDBE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962DA-561B-6524-1FB1-D7C9988A7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4351E-63AD-E4CB-313E-671316C6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6EEEF-DC36-3458-B255-929E633AE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B345-B4D3-6E74-68BD-1104EC49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29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011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932366-2541-C4DA-62C7-18A3FE8AD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11268-B015-0472-AEF0-A39CB99AA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4FA99-F678-1D9F-0696-C4806CDE1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2175AC-66A4-E644-801D-D68DBD6C4158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DCFCE-3C00-EBB5-B0D2-1905D3A3A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5B18F-2295-DD69-C379-59A743F91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3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9940957-8AB2-D16F-0B68-8E5D5362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1E85F8C4-6FBC-64E4-2635-89EC647701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</a:endParaRPr>
          </a:p>
        </p:txBody>
      </p:sp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E544DFAF-A0EC-9E6C-CAFB-47F9AD8487DE}"/>
              </a:ext>
            </a:extLst>
          </p:cNvPr>
          <p:cNvSpPr/>
          <p:nvPr/>
        </p:nvSpPr>
        <p:spPr>
          <a:xfrm>
            <a:off x="299778" y="329184"/>
            <a:ext cx="11587422" cy="6230112"/>
          </a:xfrm>
          <a:prstGeom prst="rect">
            <a:avLst/>
          </a:prstGeom>
          <a:solidFill>
            <a:srgbClr val="1255C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B0F9C802-1296-A94A-C30E-B1A2AF470E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600" y="3093684"/>
            <a:ext cx="10862800" cy="112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 algn="ctr"/>
            <a:r>
              <a:rPr lang="en" dirty="0">
                <a:solidFill>
                  <a:schemeClr val="bg1"/>
                </a:solidFill>
              </a:rPr>
              <a:t>Lucky Retriever Contacts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A98C722C-C428-8AA7-ECE6-E3BBF404506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215000" y="4219283"/>
            <a:ext cx="5718935" cy="193438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70000" lnSpcReduction="20000"/>
          </a:bodyPr>
          <a:lstStyle/>
          <a:p>
            <a:pPr marL="0" indent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D9D9D9"/>
                </a:solidFill>
              </a:rPr>
              <a:t>COP 4331 Spring 2026</a:t>
            </a:r>
          </a:p>
          <a:p>
            <a:pPr marL="0" indent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D9D9D9"/>
                </a:solidFill>
              </a:rPr>
              <a:t>Dr. </a:t>
            </a:r>
            <a:r>
              <a:rPr lang="en" b="1" dirty="0" err="1">
                <a:solidFill>
                  <a:srgbClr val="D9D9D9"/>
                </a:solidFill>
              </a:rPr>
              <a:t>Yadavally</a:t>
            </a:r>
            <a:endParaRPr lang="en" b="1" dirty="0">
              <a:solidFill>
                <a:srgbClr val="D9D9D9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D9D9D9"/>
                </a:solidFill>
              </a:rPr>
              <a:t>Small Project – Group 7</a:t>
            </a:r>
          </a:p>
          <a:p>
            <a:pPr marL="0" indent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D9D9D9"/>
                </a:solidFill>
              </a:rPr>
              <a:t>February 27, 2026 (12:30 – 12:42)</a:t>
            </a:r>
          </a:p>
          <a:p>
            <a:pPr marL="0" indent="0" algn="ctr">
              <a:spcBef>
                <a:spcPts val="0"/>
              </a:spcBef>
              <a:spcAft>
                <a:spcPts val="1600"/>
              </a:spcAft>
              <a:buNone/>
            </a:pPr>
            <a:endParaRPr b="1" dirty="0">
              <a:solidFill>
                <a:srgbClr val="D9D9D9"/>
              </a:solidFill>
            </a:endParaRPr>
          </a:p>
        </p:txBody>
      </p:sp>
      <p:pic>
        <p:nvPicPr>
          <p:cNvPr id="57" name="Google Shape;57;p13" title="logo.png">
            <a:extLst>
              <a:ext uri="{FF2B5EF4-FFF2-40B4-BE49-F238E27FC236}">
                <a16:creationId xmlns:a16="http://schemas.microsoft.com/office/drawing/2014/main" id="{5AD915C3-E31E-C200-08FC-571D95F6EC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916" y="1361698"/>
            <a:ext cx="1736168" cy="1732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5918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7B14-5481-AC01-38B7-8839B2786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22527CE6-6B5F-EE38-A14E-658358B03FB7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51E50-9CE3-79A7-DA74-F1325650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E4829-AB15-01F6-AAD1-5B20395FF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Group Introduction</a:t>
            </a:r>
          </a:p>
          <a:p>
            <a:pPr lvl="1"/>
            <a:r>
              <a:rPr lang="en-US" dirty="0"/>
              <a:t>Phillip Lintereur (Front-End / PM)</a:t>
            </a:r>
          </a:p>
          <a:p>
            <a:pPr lvl="1"/>
            <a:r>
              <a:rPr lang="en-US" dirty="0"/>
              <a:t>Andrew Kelton (Front-End)</a:t>
            </a:r>
          </a:p>
          <a:p>
            <a:pPr lvl="1"/>
            <a:r>
              <a:rPr lang="en-US" dirty="0"/>
              <a:t>Ernesto Lugo (API)</a:t>
            </a:r>
          </a:p>
          <a:p>
            <a:pPr lvl="1"/>
            <a:r>
              <a:rPr lang="en-US" dirty="0"/>
              <a:t>John-Clement Gallo (API)</a:t>
            </a:r>
          </a:p>
          <a:p>
            <a:pPr lvl="1"/>
            <a:r>
              <a:rPr lang="en-US" dirty="0"/>
              <a:t>Leandro Vivares (Database / API)</a:t>
            </a:r>
          </a:p>
          <a:p>
            <a:pPr lvl="1"/>
            <a:r>
              <a:rPr lang="en-US" dirty="0"/>
              <a:t>Kyle Martin (API / Front-End for About Us Page)</a:t>
            </a:r>
          </a:p>
          <a:p>
            <a:r>
              <a:rPr lang="en-US" dirty="0"/>
              <a:t>Small Project Domain Name</a:t>
            </a:r>
          </a:p>
          <a:p>
            <a:pPr lvl="1"/>
            <a:r>
              <a:rPr lang="en-US" dirty="0"/>
              <a:t>http://cop4331-pal.com</a:t>
            </a:r>
          </a:p>
          <a:p>
            <a:r>
              <a:rPr lang="en-US" dirty="0"/>
              <a:t>GitHub Repository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/AndrewKelton/Small-Project</a:t>
            </a:r>
          </a:p>
          <a:p>
            <a:pPr lvl="1"/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12DC0C4B-A344-3D1C-F227-CA8839182F1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6971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7E52A-6D53-C379-7E39-5B4AB0C14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810066C5-1F16-3C8B-CCD1-8AF2A733B903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5D9D6-357B-8050-CC52-971EA501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41230-2A4A-CB65-CE07-DADBEBC1D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Presentation Outline</a:t>
            </a:r>
          </a:p>
          <a:p>
            <a:pPr lvl="1"/>
            <a:r>
              <a:rPr lang="en-US" dirty="0"/>
              <a:t>Project and Web App Overview</a:t>
            </a:r>
          </a:p>
          <a:p>
            <a:pPr lvl="2"/>
            <a:r>
              <a:rPr lang="en-US" dirty="0"/>
              <a:t>Project Requirements</a:t>
            </a:r>
          </a:p>
          <a:p>
            <a:pPr lvl="2"/>
            <a:r>
              <a:rPr lang="en-US" dirty="0"/>
              <a:t>Web App Overview</a:t>
            </a:r>
          </a:p>
          <a:p>
            <a:pPr lvl="2"/>
            <a:r>
              <a:rPr lang="en-US" dirty="0"/>
              <a:t>Project Progress Schedule and Summary</a:t>
            </a:r>
          </a:p>
          <a:p>
            <a:pPr lvl="1"/>
            <a:r>
              <a:rPr lang="en-US" dirty="0"/>
              <a:t>Database</a:t>
            </a:r>
          </a:p>
          <a:p>
            <a:pPr lvl="1"/>
            <a:r>
              <a:rPr lang="en-US" dirty="0"/>
              <a:t>API</a:t>
            </a:r>
          </a:p>
          <a:p>
            <a:pPr lvl="2"/>
            <a:r>
              <a:rPr lang="en-US" dirty="0"/>
              <a:t>API End Point Demonstration</a:t>
            </a:r>
          </a:p>
          <a:p>
            <a:pPr lvl="1"/>
            <a:r>
              <a:rPr lang="en-US" dirty="0"/>
              <a:t>Front-End</a:t>
            </a:r>
          </a:p>
          <a:p>
            <a:pPr lvl="2"/>
            <a:r>
              <a:rPr lang="en-US" dirty="0"/>
              <a:t>Web App Demonstration</a:t>
            </a:r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FE15DCAB-BA56-44C2-3384-8BCDC130EC8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1899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E9FA-93F6-9AF8-7CAA-D3266695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3E5169DE-6059-2EE1-CCF4-6409B4053800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7D3EB-5E24-F64F-C32B-0265B511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932F1-D0F3-5DFB-0A53-BA3E3D3EC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Project Requirements</a:t>
            </a:r>
          </a:p>
          <a:p>
            <a:pPr lvl="1"/>
            <a:r>
              <a:rPr lang="en-US" dirty="0"/>
              <a:t>Web App that serves as a Contacts Management System</a:t>
            </a:r>
          </a:p>
          <a:p>
            <a:pPr lvl="1"/>
            <a:r>
              <a:rPr lang="en-US" dirty="0"/>
              <a:t>LAMP Stack</a:t>
            </a:r>
          </a:p>
          <a:p>
            <a:pPr lvl="2"/>
            <a:r>
              <a:rPr lang="en-US" dirty="0"/>
              <a:t>Hosted on Digital Ocean Droplet</a:t>
            </a:r>
          </a:p>
          <a:p>
            <a:pPr lvl="1"/>
            <a:r>
              <a:rPr lang="en-US" dirty="0"/>
              <a:t>Functionality</a:t>
            </a:r>
          </a:p>
          <a:p>
            <a:pPr lvl="2"/>
            <a:r>
              <a:rPr lang="en-US" dirty="0"/>
              <a:t>Login/Register</a:t>
            </a:r>
          </a:p>
          <a:p>
            <a:pPr lvl="2"/>
            <a:r>
              <a:rPr lang="en-US" dirty="0"/>
              <a:t>CRUD Operations - Create, Read, Update, Delete</a:t>
            </a:r>
          </a:p>
          <a:p>
            <a:pPr lvl="2"/>
            <a:r>
              <a:rPr lang="en-US" dirty="0"/>
              <a:t>Search Function (Partial Match)</a:t>
            </a:r>
          </a:p>
          <a:p>
            <a:pPr lvl="1"/>
            <a:r>
              <a:rPr lang="en-US" dirty="0"/>
              <a:t>Contact Information</a:t>
            </a:r>
          </a:p>
          <a:p>
            <a:pPr lvl="2"/>
            <a:r>
              <a:rPr lang="en-US" dirty="0"/>
              <a:t>First Name, Last Name, Email, Phone Number, Date Contact was Added</a:t>
            </a:r>
          </a:p>
          <a:p>
            <a:pPr lvl="1"/>
            <a:r>
              <a:rPr lang="en-US" dirty="0"/>
              <a:t>Use API’s for communication between client and remote server</a:t>
            </a:r>
          </a:p>
          <a:p>
            <a:pPr lvl="1"/>
            <a:r>
              <a:rPr lang="en-US" dirty="0"/>
              <a:t>Request/Response Packages using JSON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AD9B4232-4E04-E322-171A-BB2611D01EF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5451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A14E-B4F6-54EE-8961-57179D9B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5DA5F686-D208-6B0C-799E-C0B5CEC1408A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23047-0644-469C-6209-56DF9248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 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FA9BA-3FB1-C65C-0F54-6177DE3CE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Use-Case Diagram</a:t>
            </a:r>
          </a:p>
          <a:p>
            <a:pPr lvl="1"/>
            <a:r>
              <a:rPr lang="en-US" dirty="0"/>
              <a:t>System</a:t>
            </a:r>
          </a:p>
          <a:p>
            <a:pPr lvl="2"/>
            <a:r>
              <a:rPr lang="en-US" dirty="0"/>
              <a:t>Web-App (Contacts Management System)</a:t>
            </a:r>
          </a:p>
          <a:p>
            <a:pPr lvl="1"/>
            <a:r>
              <a:rPr lang="en-US" dirty="0"/>
              <a:t>Actors</a:t>
            </a:r>
          </a:p>
          <a:p>
            <a:pPr lvl="2"/>
            <a:r>
              <a:rPr lang="en-US" dirty="0"/>
              <a:t>Unregistered User</a:t>
            </a:r>
          </a:p>
          <a:p>
            <a:pPr lvl="2"/>
            <a:r>
              <a:rPr lang="en-US" dirty="0"/>
              <a:t>Registered User</a:t>
            </a:r>
          </a:p>
          <a:p>
            <a:pPr lvl="1"/>
            <a:r>
              <a:rPr lang="en-US" dirty="0"/>
              <a:t>Use-Cases</a:t>
            </a:r>
          </a:p>
          <a:p>
            <a:pPr lvl="2"/>
            <a:r>
              <a:rPr lang="en-US" dirty="0"/>
              <a:t>What functions does the system provide?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41EE6F18-ECC7-6E3A-CC71-8E1D71F0E66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diagram of a person with blue circles&#10;&#10;AI-generated content may be incorrect.">
            <a:extLst>
              <a:ext uri="{FF2B5EF4-FFF2-40B4-BE49-F238E27FC236}">
                <a16:creationId xmlns:a16="http://schemas.microsoft.com/office/drawing/2014/main" id="{9C57B888-3EB0-ADA0-43DF-AF46E8B4E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720" y="1606131"/>
            <a:ext cx="4072459" cy="500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03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608A4-D73B-6291-10CA-314B0293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C2F7AA17-1725-904D-DCC1-2A3626EE1B18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C07325-AC67-953B-FECA-1050D7970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9DF1C-0A1C-4940-2800-6E895BAF4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Web App Layout</a:t>
            </a:r>
          </a:p>
          <a:p>
            <a:pPr lvl="1"/>
            <a:r>
              <a:rPr lang="en-US" dirty="0"/>
              <a:t>System Design</a:t>
            </a:r>
          </a:p>
          <a:p>
            <a:pPr lvl="2"/>
            <a:r>
              <a:rPr lang="en-US" sz="1800" dirty="0"/>
              <a:t>Wireframe</a:t>
            </a:r>
          </a:p>
          <a:p>
            <a:pPr lvl="2"/>
            <a:r>
              <a:rPr lang="en-US" sz="1800" dirty="0"/>
              <a:t>Functional Specifications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49A6F15F-3174-A6F2-44B6-5ABD242E19E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6CB39FA-5A52-641E-DADE-B8A7D1A87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208" y="1603268"/>
            <a:ext cx="5943600" cy="5003800"/>
          </a:xfrm>
          <a:prstGeom prst="rect">
            <a:avLst/>
          </a:prstGeom>
        </p:spPr>
      </p:pic>
      <p:pic>
        <p:nvPicPr>
          <p:cNvPr id="12" name="Picture 11" descr="A group of colorful rectangular objects&#10;&#10;AI-generated content may be incorrect.">
            <a:extLst>
              <a:ext uri="{FF2B5EF4-FFF2-40B4-BE49-F238E27FC236}">
                <a16:creationId xmlns:a16="http://schemas.microsoft.com/office/drawing/2014/main" id="{2C3AEE0C-BA30-392D-68E6-B1A96921A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104" y="5059363"/>
            <a:ext cx="11684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84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971E-CFBB-643A-1D34-9DC30334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818D4C79-EF3B-8F93-F020-6AE0569D716C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3084E9-FB3B-D19C-6283-A97753A0E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82F7F-AD1B-14D5-E79B-5B2B47D09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Gantt Chart</a:t>
            </a:r>
          </a:p>
          <a:p>
            <a:pPr lvl="1"/>
            <a:r>
              <a:rPr lang="en-US" sz="1800" dirty="0"/>
              <a:t>Group Coordination – Weekly Meeting and Discord</a:t>
            </a:r>
          </a:p>
          <a:p>
            <a:pPr lvl="1"/>
            <a:r>
              <a:rPr lang="en-US" sz="1800" dirty="0"/>
              <a:t>Program Progress and GitHub Protocol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B6CD7520-BF41-2787-8DDF-D1FC3D00F7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close-up of a project&#10;&#10;AI-generated content may be incorrect.">
            <a:extLst>
              <a:ext uri="{FF2B5EF4-FFF2-40B4-BE49-F238E27FC236}">
                <a16:creationId xmlns:a16="http://schemas.microsoft.com/office/drawing/2014/main" id="{CC1DDF59-1028-CCD9-09E0-243686A57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67" y="2943531"/>
            <a:ext cx="11366533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57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BCC9-50DE-E366-3365-322CDFA8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B3AA09BB-3D72-C04B-63E7-91474026FBC0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143EA-7958-3C4C-4019-92AF2B56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DC3BC-853B-E91D-4FF2-911C44CF4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Things that went well</a:t>
            </a:r>
          </a:p>
          <a:p>
            <a:pPr lvl="1"/>
            <a:r>
              <a:rPr lang="en-US" dirty="0"/>
              <a:t>Overlapping of workflow and prototyping sped up production.</a:t>
            </a:r>
          </a:p>
          <a:p>
            <a:pPr lvl="1"/>
            <a:r>
              <a:rPr lang="en-US" dirty="0"/>
              <a:t>Got into a rhythm after getting a few key features implemented on the front-end.</a:t>
            </a:r>
          </a:p>
          <a:p>
            <a:pPr lvl="1"/>
            <a:r>
              <a:rPr lang="en-US" dirty="0"/>
              <a:t>Generally met key deadlines towards the end of the project</a:t>
            </a:r>
          </a:p>
          <a:p>
            <a:pPr lvl="2"/>
            <a:r>
              <a:rPr lang="en-US" dirty="0"/>
              <a:t>Functionality Prototype</a:t>
            </a:r>
          </a:p>
          <a:p>
            <a:pPr lvl="2"/>
            <a:r>
              <a:rPr lang="en-US" dirty="0"/>
              <a:t>Final CSS Formatting by Lab Group Check-In</a:t>
            </a:r>
          </a:p>
          <a:p>
            <a:r>
              <a:rPr lang="en-US" dirty="0"/>
              <a:t>Things that could have gone better</a:t>
            </a:r>
          </a:p>
          <a:p>
            <a:pPr lvl="1"/>
            <a:r>
              <a:rPr lang="en-US" dirty="0"/>
              <a:t>git took time to adjust to, which slowed testing of features.</a:t>
            </a:r>
          </a:p>
          <a:p>
            <a:pPr lvl="1"/>
            <a:r>
              <a:rPr lang="en-US" dirty="0"/>
              <a:t>Missing a critical requirement (limit on loading contact table) late in the project.</a:t>
            </a:r>
          </a:p>
          <a:p>
            <a:pPr lvl="2"/>
            <a:r>
              <a:rPr lang="en-US" dirty="0"/>
              <a:t>Challenge with table paging edge-case</a:t>
            </a:r>
          </a:p>
          <a:p>
            <a:pPr lvl="1"/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B372A4FF-4BD1-9EC5-E6BF-39C8DBCF717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7389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ECB8B-C852-CD2A-DEC4-D6924E542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F9DDCEF7-6FC0-3A74-77FA-B1B173DEAAD4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31713-C457-8A35-46F1-2AEB196D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AA1E0-F118-C481-BAA1-FFB10F98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Database</a:t>
            </a:r>
          </a:p>
          <a:p>
            <a:pPr lvl="1"/>
            <a:r>
              <a:rPr lang="en-US" dirty="0"/>
              <a:t>Database Description</a:t>
            </a:r>
          </a:p>
          <a:p>
            <a:pPr lvl="1"/>
            <a:r>
              <a:rPr lang="en-US" dirty="0"/>
              <a:t>MySQL</a:t>
            </a:r>
          </a:p>
          <a:p>
            <a:pPr lvl="1"/>
            <a:r>
              <a:rPr lang="en-US" dirty="0"/>
              <a:t>AI Disclosure</a:t>
            </a:r>
          </a:p>
          <a:p>
            <a:pPr lvl="1"/>
            <a:r>
              <a:rPr lang="en-US" dirty="0"/>
              <a:t>Entity Relationship Diagram (ERD)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3AE16834-67D2-6147-4E73-B62D2BB5CF8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7188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D6FE-5DD3-895F-ACD4-FD1706143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E5B46E6C-B3FF-00DD-CBAA-A2ACA0BD7E05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067DD2-6EB1-CB02-4A35-8BCCE1FC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4F066-BA67-5D7E-939F-155A8249E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Database</a:t>
            </a:r>
          </a:p>
          <a:p>
            <a:pPr lvl="1"/>
            <a:r>
              <a:rPr lang="en-US" dirty="0"/>
              <a:t>Entity Relationship Diagram (ERD)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26BD709C-3752-D55C-B76C-C687F994306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0991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BD623-A09D-0CB1-CFB6-3D83021F4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7BBAD2E9-B41C-226A-95AD-0D38F03F2D7E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2675D-A3DA-335A-F135-F81F6320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E5108-11A0-46F0-C14E-6CFD456CB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API</a:t>
            </a:r>
          </a:p>
          <a:p>
            <a:pPr lvl="1"/>
            <a:r>
              <a:rPr lang="en-US" dirty="0"/>
              <a:t>API Overview</a:t>
            </a:r>
          </a:p>
          <a:p>
            <a:pPr lvl="2"/>
            <a:r>
              <a:rPr lang="en-US" dirty="0"/>
              <a:t>REST API</a:t>
            </a:r>
          </a:p>
          <a:p>
            <a:pPr lvl="2"/>
            <a:r>
              <a:rPr lang="en-US" dirty="0"/>
              <a:t>JSON Client-Server Communication</a:t>
            </a:r>
          </a:p>
          <a:p>
            <a:pPr lvl="2"/>
            <a:r>
              <a:rPr lang="en-US" dirty="0"/>
              <a:t>PHP</a:t>
            </a:r>
          </a:p>
          <a:p>
            <a:pPr lvl="2"/>
            <a:r>
              <a:rPr lang="en-US" dirty="0" err="1"/>
              <a:t>SwaggerHub</a:t>
            </a:r>
            <a:endParaRPr lang="en-US" dirty="0"/>
          </a:p>
          <a:p>
            <a:pPr lvl="2"/>
            <a:r>
              <a:rPr lang="en-US" dirty="0"/>
              <a:t>Postman</a:t>
            </a:r>
          </a:p>
          <a:p>
            <a:pPr lvl="2"/>
            <a:r>
              <a:rPr lang="en-US" dirty="0"/>
              <a:t>AI Disclosure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B6C928EE-673F-AE86-77CC-057CCEC858C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5215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ECFBA-8664-698C-35FE-A0FDF801A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987D7C86-5390-534D-4591-E44B16617D30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EABAA-09BB-5143-B700-EB0A02445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2E69E-8A8B-696C-CC1B-937B820FC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API</a:t>
            </a:r>
          </a:p>
          <a:p>
            <a:pPr lvl="1"/>
            <a:r>
              <a:rPr lang="en-US" dirty="0"/>
              <a:t>API Documentation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16023213-99EE-CB99-0C76-A9EA5A19FAB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8254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573D-E99F-61DE-D84C-490187A4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E8D8B98D-CAD4-289B-6E9B-538912C551E9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0CA31-90AD-BB9E-B4D4-B70EEF055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EFCED-EE9C-0869-43FE-AA30F218E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API</a:t>
            </a:r>
          </a:p>
          <a:p>
            <a:pPr lvl="1"/>
            <a:r>
              <a:rPr lang="en-US" dirty="0"/>
              <a:t>API End-Point Demonstration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22BB116A-2834-6AF8-F147-79753AE85E6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7049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4D3-E5AE-D3F4-EC2B-068A87FE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7BD115DD-E986-F3E8-EF99-78631B6824BF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E8DF8-0E98-D792-FF65-DCB8EE02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B30B5-1FBA-A1DF-DB18-CEBC532E7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Front-End</a:t>
            </a:r>
          </a:p>
          <a:p>
            <a:pPr lvl="1"/>
            <a:r>
              <a:rPr lang="en-US" dirty="0"/>
              <a:t>JavaScript</a:t>
            </a:r>
          </a:p>
          <a:p>
            <a:pPr lvl="1"/>
            <a:r>
              <a:rPr lang="en-US" dirty="0"/>
              <a:t>HTML</a:t>
            </a:r>
          </a:p>
          <a:p>
            <a:pPr lvl="1"/>
            <a:r>
              <a:rPr lang="en-US" dirty="0"/>
              <a:t>CSS and Bootstrap 5</a:t>
            </a:r>
          </a:p>
          <a:p>
            <a:pPr lvl="1"/>
            <a:r>
              <a:rPr lang="en-US" dirty="0"/>
              <a:t>AJAX (asynchronous API calls)</a:t>
            </a:r>
          </a:p>
          <a:p>
            <a:pPr lvl="1"/>
            <a:r>
              <a:rPr lang="en-US" dirty="0"/>
              <a:t>Localhost Testing (XAMPP)</a:t>
            </a:r>
          </a:p>
          <a:p>
            <a:pPr lvl="1"/>
            <a:r>
              <a:rPr lang="en-US" dirty="0"/>
              <a:t>AI Disclosure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93A76110-8A68-9F81-08D7-EBA944A3C87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9915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06D09-7642-7279-D83D-C506A0539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D473E8A5-8B1D-EE8B-9801-ABE59FCAB8DF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72F17-36EE-9144-8A70-B5F5FD41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4897-C29E-2709-801A-7B28DD486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Front-End</a:t>
            </a:r>
          </a:p>
          <a:p>
            <a:pPr lvl="1"/>
            <a:r>
              <a:rPr lang="en-US" dirty="0"/>
              <a:t>Demonstration</a:t>
            </a:r>
          </a:p>
          <a:p>
            <a:pPr lvl="1"/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DC0BE647-2E02-34E6-3A65-1B3D542A788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4723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01DD-AA63-ECBD-1E4F-4785BCB8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F7BC18A0-B563-2EC4-08D3-B8C38DBD7F27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522C4-3283-5447-A610-8999BC805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730E8-B870-B199-D199-E67C62C6F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Front-End</a:t>
            </a:r>
          </a:p>
          <a:p>
            <a:pPr lvl="1"/>
            <a:r>
              <a:rPr lang="en-US" dirty="0"/>
              <a:t>Lighthouse Accessibility Report</a:t>
            </a:r>
          </a:p>
          <a:p>
            <a:pPr lvl="1"/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BEDFEC63-7A92-5E39-56AA-842084EEAF8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2501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E9077-7027-86CE-EF8F-EFFE749EB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7CCC8817-58FB-D052-616E-15B8A1C09356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99F1C-544E-BDE1-E5BA-A366AEEAC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18242-FC94-C131-7C64-56BBB3246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About Us Page</a:t>
            </a:r>
          </a:p>
          <a:p>
            <a:pPr lvl="1"/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AE68A0DB-55BD-3D32-A115-268C8FBAA75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901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9B91-507B-EC7A-CAAB-BD7E495B4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E451958D-A75F-1889-5BCC-0D4E1C6A0D29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7B9A0-DD83-9742-6F58-314C57A7C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0A8F2-522C-2D42-672C-259BD434D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r>
              <a:rPr lang="en-US" sz="5200" dirty="0"/>
              <a:t>Questions?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EFECECC8-FF6E-9C14-1DDB-5D170F253A3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3925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607</Words>
  <Application>Microsoft Macintosh PowerPoint</Application>
  <PresentationFormat>Widescreen</PresentationFormat>
  <Paragraphs>120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Lucky Retriever Contacts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Denise Lintereur</dc:creator>
  <cp:lastModifiedBy>Denise Lintereur</cp:lastModifiedBy>
  <cp:revision>122</cp:revision>
  <dcterms:created xsi:type="dcterms:W3CDTF">2026-02-12T01:31:45Z</dcterms:created>
  <dcterms:modified xsi:type="dcterms:W3CDTF">2026-02-19T03:40:58Z</dcterms:modified>
</cp:coreProperties>
</file>