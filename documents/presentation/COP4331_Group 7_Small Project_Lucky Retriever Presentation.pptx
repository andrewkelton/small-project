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8" r:id="rId2"/>
    <p:sldId id="263" r:id="rId3"/>
    <p:sldId id="264" r:id="rId4"/>
    <p:sldId id="260" r:id="rId5"/>
    <p:sldId id="262" r:id="rId6"/>
    <p:sldId id="261" r:id="rId7"/>
    <p:sldId id="270" r:id="rId8"/>
    <p:sldId id="266" r:id="rId9"/>
    <p:sldId id="277" r:id="rId10"/>
    <p:sldId id="272" r:id="rId11"/>
    <p:sldId id="278" r:id="rId12"/>
    <p:sldId id="265" r:id="rId13"/>
    <p:sldId id="280" r:id="rId14"/>
    <p:sldId id="279" r:id="rId15"/>
    <p:sldId id="273" r:id="rId16"/>
    <p:sldId id="274" r:id="rId17"/>
    <p:sldId id="267" r:id="rId18"/>
    <p:sldId id="276" r:id="rId19"/>
    <p:sldId id="275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5CE"/>
    <a:srgbClr val="1255CD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FB4A9-ACF3-471E-2ECE-B5E88A10D6F2}" v="1118" dt="2026-02-19T07:42:57.469"/>
    <p1510:client id="{683850F9-7E64-542B-E1E1-FA37C1051000}" v="17" dt="2026-02-19T07:03:37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18"/>
    <p:restoredTop sz="94487"/>
  </p:normalViewPr>
  <p:slideViewPr>
    <p:cSldViewPr snapToGrid="0">
      <p:cViewPr varScale="1">
        <p:scale>
          <a:sx n="137" d="100"/>
          <a:sy n="137" d="100"/>
        </p:scale>
        <p:origin x="11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DCE7E-3C3A-C84E-85FE-E5F5E5457DA5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3DC12-BB0A-C347-90EA-A69298979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0DBD688-CB4B-AA6E-9C88-CD5C04B5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6623113-5F21-B36D-5537-F53CB8631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A34A121-4803-88BC-54F6-D0EF13BDB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495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3DC12-BB0A-C347-90EA-A692989795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0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A71F-E69E-AAB0-08DF-A35DECD02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74B1C-E8ED-1311-F8CB-1BEA200FF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5791-8A4A-742C-75F1-077F12EDB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D079B-2C39-811C-A8AF-A924E0A1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ADBC-F5EB-CDB0-DD1E-F933EF67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6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B755-1D12-FA92-EEB0-A98A3F0E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13466-327F-7ED4-C215-4F1675B28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59515-5C02-6C26-1291-32E6C383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35C3A-7359-0F5D-C262-98E92C5B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44645-22FA-9787-03D9-EEA7F18F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5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F7B0-4B3C-694A-B893-5166B372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F2BE-DC52-26F1-B9FC-A25D33E95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95D6E-9D5A-B7F6-9B87-6FB8FEB3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CD8C-83F2-65FD-7262-E1D86C06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7EF1-7353-F899-D0A7-B6AEB2C9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2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4092-FB36-FDB1-D157-B938F361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6CF4-8AAE-280D-41E2-B8EEC3E88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55CC1-E892-801A-2B30-DE2FF1496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C2D8D-EFBB-8F60-7145-62A9BDA2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E434B-43B7-8F64-2D3D-0013C92E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0644F-18AB-6872-EF0D-516C4E36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22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F852-635D-7104-053D-16566D2F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DBD5C-A73F-9EF4-0D80-C5CE84A4A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EE57B-35C2-A1FA-EBE0-68198E26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D1FD4-EABD-D0F1-C7C1-25A1E4284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D9736-B7C4-E84B-48DE-9C8FB099C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20C5B-F804-6199-AABC-303B59A0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71228-8E23-582E-AA58-71422C49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FE7A5-5624-54BA-C2D3-BBF4B0AE5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1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0685-173F-F317-153E-B26035AE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0043B-BE4B-9968-2DDA-9607704F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BA325-B7FF-1E59-5BB7-C9691678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3ADCB-B70F-9631-965E-78D7A439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6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14165-60DD-A709-8A81-FC5549E5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62A43-BD3A-1B93-FCA9-54C66146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E0EF-DEB7-12B8-6A61-EF0A3F9E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3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9F6C-8B09-5589-3116-29CB9FC2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29FE-DEC9-DB0E-59C2-BECA2AA1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CE077-3EAE-6039-0C83-52367D67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1B48-FAAA-4DA0-D170-94E633FF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EB01D-96D3-62EC-6678-319A4E78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273F6-77C5-3CD1-AB37-6B28B0DF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0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2CA5-B977-8484-7034-FFF7F12D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BB3B1-00A2-C4DA-A765-6F73DA960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D9B70-9AC8-F7C9-DCCB-A988C66AC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FA97B-8727-6783-C131-C199EF09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38BF-98B5-4DF3-3E57-4B6A1ED72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A76AA-CAE9-6051-BA04-16007644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0A22-0A03-FECA-F404-4A51857B3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218119-FD83-2F50-8F89-2C259FB0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5C82-3CE4-8917-0183-9F257EEF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A3A4-2C48-5FC7-04BA-462C1E2A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E7CE-1A88-336F-31E5-84DA0AC9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90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5BE68-A40F-37C2-5FE2-A89ECFDBE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962DA-561B-6524-1FB1-D7C9988A7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4351E-63AD-E4CB-313E-671316C6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6EEEF-DC36-3458-B255-929E633A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B345-B4D3-6E74-68BD-1104EC49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29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011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32366-2541-C4DA-62C7-18A3FE8A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11268-B015-0472-AEF0-A39CB99AA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FA99-F678-1D9F-0696-C4806CDE1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175AC-66A4-E644-801D-D68DBD6C4158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DCFCE-3C00-EBB5-B0D2-1905D3A3A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5B18F-2295-DD69-C379-59A743F91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E93EA-1FFC-2442-9175-2448D109E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3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9940957-8AB2-D16F-0B68-8E5D5362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1E85F8C4-6FBC-64E4-2635-89EC647701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55CC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solidFill>
                <a:srgbClr val="FFFFFF"/>
              </a:solidFill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E544DFAF-A0EC-9E6C-CAFB-47F9AD8487DE}"/>
              </a:ext>
            </a:extLst>
          </p:cNvPr>
          <p:cNvSpPr/>
          <p:nvPr/>
        </p:nvSpPr>
        <p:spPr>
          <a:xfrm>
            <a:off x="299778" y="329184"/>
            <a:ext cx="11587422" cy="6230112"/>
          </a:xfrm>
          <a:prstGeom prst="rect">
            <a:avLst/>
          </a:prstGeom>
          <a:solidFill>
            <a:srgbClr val="1255C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B0F9C802-1296-A94A-C30E-B1A2AF470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4600" y="3093684"/>
            <a:ext cx="10862800" cy="112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algn="ctr"/>
            <a:r>
              <a:rPr lang="en" dirty="0">
                <a:solidFill>
                  <a:schemeClr val="bg1"/>
                </a:solidFill>
              </a:rPr>
              <a:t>Lucky Retriever Contacts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A98C722C-C428-8AA7-ECE6-E3BBF404506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15000" y="4219283"/>
            <a:ext cx="5718935" cy="19343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70000" lnSpcReduction="20000"/>
          </a:bodyPr>
          <a:lstStyle/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COP 4331 Spring 2026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Dr. </a:t>
            </a:r>
            <a:r>
              <a:rPr lang="en" b="1" dirty="0" err="1">
                <a:solidFill>
                  <a:srgbClr val="D9D9D9"/>
                </a:solidFill>
              </a:rPr>
              <a:t>Yadavally</a:t>
            </a:r>
            <a:endParaRPr lang="en" b="1" dirty="0">
              <a:solidFill>
                <a:srgbClr val="D9D9D9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Small Project – Group 7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D9D9D9"/>
                </a:solidFill>
              </a:rPr>
              <a:t>February 27, 2026 (12:30 – 12:42)</a:t>
            </a:r>
          </a:p>
          <a:p>
            <a:pPr marL="0" indent="0" algn="ctr">
              <a:spcBef>
                <a:spcPts val="0"/>
              </a:spcBef>
              <a:spcAft>
                <a:spcPts val="1600"/>
              </a:spcAft>
              <a:buNone/>
            </a:pPr>
            <a:endParaRPr b="1" dirty="0">
              <a:solidFill>
                <a:srgbClr val="D9D9D9"/>
              </a:solidFill>
            </a:endParaRPr>
          </a:p>
        </p:txBody>
      </p:sp>
      <p:pic>
        <p:nvPicPr>
          <p:cNvPr id="57" name="Google Shape;57;p13" title="logo.png">
            <a:extLst>
              <a:ext uri="{FF2B5EF4-FFF2-40B4-BE49-F238E27FC236}">
                <a16:creationId xmlns:a16="http://schemas.microsoft.com/office/drawing/2014/main" id="{5AD915C3-E31E-C200-08FC-571D95F6EC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916" y="1361698"/>
            <a:ext cx="1736168" cy="1732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591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7B14-5481-AC01-38B7-8839B278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22527CE6-6B5F-EE38-A14E-658358B03FB7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51E50-9CE3-79A7-DA74-F1325650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E4829-AB15-01F6-AAD1-5B20395FF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Group Introduction</a:t>
            </a:r>
          </a:p>
          <a:p>
            <a:pPr lvl="1"/>
            <a:r>
              <a:rPr lang="en-US" dirty="0"/>
              <a:t>Phillip Lintereur (Front-End / PM)</a:t>
            </a:r>
          </a:p>
          <a:p>
            <a:pPr lvl="1"/>
            <a:r>
              <a:rPr lang="en-US" dirty="0"/>
              <a:t>Andrew Kelton (Front-End)</a:t>
            </a:r>
          </a:p>
          <a:p>
            <a:pPr lvl="1"/>
            <a:r>
              <a:rPr lang="en-US" dirty="0"/>
              <a:t>Ernesto Lugo (API)</a:t>
            </a:r>
          </a:p>
          <a:p>
            <a:pPr lvl="1"/>
            <a:r>
              <a:rPr lang="en-US" dirty="0"/>
              <a:t>John-Clement Gallo (API)</a:t>
            </a:r>
          </a:p>
          <a:p>
            <a:pPr lvl="1"/>
            <a:r>
              <a:rPr lang="en-US" dirty="0"/>
              <a:t>Leandro Vivares (Database / API)</a:t>
            </a:r>
          </a:p>
          <a:p>
            <a:r>
              <a:rPr lang="en-US" dirty="0"/>
              <a:t>Small Project Domain Name</a:t>
            </a:r>
          </a:p>
          <a:p>
            <a:pPr lvl="1"/>
            <a:r>
              <a:rPr lang="en-US" dirty="0"/>
              <a:t>http://cop4331-pal.com</a:t>
            </a:r>
          </a:p>
          <a:p>
            <a:r>
              <a:rPr lang="en-US" dirty="0"/>
              <a:t>GitHub Repository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/AndrewKelton/Small-Project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12DC0C4B-A344-3D1C-F227-CA8839182F1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6971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E9FA-93F6-9AF8-7CAA-D3266695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3E5169DE-6059-2EE1-CCF4-6409B4053800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7D3EB-5E24-F64F-C32B-0265B511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932F1-D0F3-5DFB-0A53-BA3E3D3EC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Project Requirements</a:t>
            </a:r>
          </a:p>
          <a:p>
            <a:pPr lvl="1"/>
            <a:r>
              <a:rPr lang="en-US" dirty="0"/>
              <a:t>Web App that serves as a Contacts Management System</a:t>
            </a:r>
          </a:p>
          <a:p>
            <a:pPr lvl="1"/>
            <a:r>
              <a:rPr lang="en-US" dirty="0"/>
              <a:t>LAMP Stack</a:t>
            </a:r>
          </a:p>
          <a:p>
            <a:pPr lvl="2"/>
            <a:r>
              <a:rPr lang="en-US" dirty="0"/>
              <a:t>Hosted on Digital Ocean Droplet</a:t>
            </a:r>
          </a:p>
          <a:p>
            <a:pPr lvl="1"/>
            <a:r>
              <a:rPr lang="en-US" dirty="0"/>
              <a:t>Functionality</a:t>
            </a:r>
          </a:p>
          <a:p>
            <a:pPr lvl="2"/>
            <a:r>
              <a:rPr lang="en-US" dirty="0"/>
              <a:t>Login/Register</a:t>
            </a:r>
          </a:p>
          <a:p>
            <a:pPr lvl="2"/>
            <a:r>
              <a:rPr lang="en-US" dirty="0"/>
              <a:t>CRUD Operations - Create, Read, Update, Delete</a:t>
            </a:r>
          </a:p>
          <a:p>
            <a:pPr lvl="2"/>
            <a:r>
              <a:rPr lang="en-US" dirty="0"/>
              <a:t>Search Function (Partial Match)</a:t>
            </a:r>
          </a:p>
          <a:p>
            <a:pPr lvl="1"/>
            <a:r>
              <a:rPr lang="en-US" dirty="0"/>
              <a:t>Contact Information</a:t>
            </a:r>
          </a:p>
          <a:p>
            <a:pPr lvl="2"/>
            <a:r>
              <a:rPr lang="en-US" dirty="0"/>
              <a:t>First Name, Last Name, Email, Phone Number, Date Contact was Added</a:t>
            </a:r>
          </a:p>
          <a:p>
            <a:pPr lvl="1"/>
            <a:r>
              <a:rPr lang="en-US" dirty="0"/>
              <a:t>Use API’s for communication between client and remote server</a:t>
            </a:r>
          </a:p>
          <a:p>
            <a:pPr lvl="1"/>
            <a:r>
              <a:rPr lang="en-US" dirty="0"/>
              <a:t>Request/Response Packages using JSON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AD9B4232-4E04-E322-171A-BB2611D01EF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45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A14E-B4F6-54EE-8961-57179D9B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5DA5F686-D208-6B0C-799E-C0B5CEC1408A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23047-0644-469C-6209-56DF9248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 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A9BA-3FB1-C65C-0F54-6177DE3C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Use-Case Diagram</a:t>
            </a:r>
          </a:p>
          <a:p>
            <a:pPr lvl="1"/>
            <a:r>
              <a:rPr lang="en-US" dirty="0"/>
              <a:t>System</a:t>
            </a:r>
          </a:p>
          <a:p>
            <a:pPr lvl="2"/>
            <a:r>
              <a:rPr lang="en-US" dirty="0"/>
              <a:t>Web-App (Contacts Management System)</a:t>
            </a:r>
          </a:p>
          <a:p>
            <a:pPr lvl="1"/>
            <a:r>
              <a:rPr lang="en-US" dirty="0"/>
              <a:t>Actors</a:t>
            </a:r>
          </a:p>
          <a:p>
            <a:pPr lvl="2"/>
            <a:r>
              <a:rPr lang="en-US" dirty="0"/>
              <a:t>Unregistered User</a:t>
            </a:r>
          </a:p>
          <a:p>
            <a:pPr lvl="2"/>
            <a:r>
              <a:rPr lang="en-US" dirty="0"/>
              <a:t>Registered User</a:t>
            </a:r>
          </a:p>
          <a:p>
            <a:pPr lvl="1"/>
            <a:r>
              <a:rPr lang="en-US" dirty="0"/>
              <a:t>Use-Cases</a:t>
            </a:r>
          </a:p>
          <a:p>
            <a:pPr lvl="2"/>
            <a:r>
              <a:rPr lang="en-US" dirty="0"/>
              <a:t>What functions does the system provide?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41EE6F18-ECC7-6E3A-CC71-8E1D71F0E66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diagram of a person with blue circles&#10;&#10;AI-generated content may be incorrect.">
            <a:extLst>
              <a:ext uri="{FF2B5EF4-FFF2-40B4-BE49-F238E27FC236}">
                <a16:creationId xmlns:a16="http://schemas.microsoft.com/office/drawing/2014/main" id="{9C57B888-3EB0-ADA0-43DF-AF46E8B4E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720" y="1606131"/>
            <a:ext cx="4072459" cy="500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0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08A4-D73B-6291-10CA-314B0293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C2F7AA17-1725-904D-DCC1-2A3626EE1B18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07325-AC67-953B-FECA-1050D7970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9DF1C-0A1C-4940-2800-6E895BAF4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Web App Layout</a:t>
            </a:r>
          </a:p>
          <a:p>
            <a:pPr lvl="1"/>
            <a:r>
              <a:rPr lang="en-US" dirty="0"/>
              <a:t>System Design</a:t>
            </a:r>
          </a:p>
          <a:p>
            <a:pPr lvl="2"/>
            <a:r>
              <a:rPr lang="en-US" sz="1800" dirty="0"/>
              <a:t>Wireframe</a:t>
            </a:r>
          </a:p>
          <a:p>
            <a:pPr lvl="2"/>
            <a:r>
              <a:rPr lang="en-US" sz="1800" dirty="0"/>
              <a:t>Functional Specifications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49A6F15F-3174-A6F2-44B6-5ABD242E19E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6CB39FA-5A52-641E-DADE-B8A7D1A87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208" y="1603268"/>
            <a:ext cx="5943600" cy="5003800"/>
          </a:xfrm>
          <a:prstGeom prst="rect">
            <a:avLst/>
          </a:prstGeom>
        </p:spPr>
      </p:pic>
      <p:pic>
        <p:nvPicPr>
          <p:cNvPr id="12" name="Picture 11" descr="A group of colorful rectangular objects&#10;&#10;AI-generated content may be incorrect.">
            <a:extLst>
              <a:ext uri="{FF2B5EF4-FFF2-40B4-BE49-F238E27FC236}">
                <a16:creationId xmlns:a16="http://schemas.microsoft.com/office/drawing/2014/main" id="{2C3AEE0C-BA30-392D-68E6-B1A96921A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104" y="5059363"/>
            <a:ext cx="11684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8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971E-CFBB-643A-1D34-9DC30334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818D4C79-EF3B-8F93-F020-6AE0569D716C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3084E9-FB3B-D19C-6283-A97753A0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2F7F-AD1B-14D5-E79B-5B2B47D09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Gantt Chart</a:t>
            </a:r>
          </a:p>
          <a:p>
            <a:pPr lvl="1"/>
            <a:r>
              <a:rPr lang="en-US" sz="1800" dirty="0"/>
              <a:t>Group Coordination – Weekly Meeting and Discord</a:t>
            </a:r>
          </a:p>
          <a:p>
            <a:pPr lvl="1"/>
            <a:r>
              <a:rPr lang="en-US" sz="1800" dirty="0"/>
              <a:t>Program Progress and GitHub Protocol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6CD7520-BF41-2787-8DDF-D1FC3D00F7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diagram of a project&#10;&#10;AI-generated content may be incorrect.">
            <a:extLst>
              <a:ext uri="{FF2B5EF4-FFF2-40B4-BE49-F238E27FC236}">
                <a16:creationId xmlns:a16="http://schemas.microsoft.com/office/drawing/2014/main" id="{F8E22D0C-6E91-DAFA-BEC8-1BC64205B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67" y="2950518"/>
            <a:ext cx="11366533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5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BCC9-50DE-E366-3365-322CDFA8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B3AA09BB-3D72-C04B-63E7-91474026FBC0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143EA-7958-3C4C-4019-92AF2B56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DC3BC-853B-E91D-4FF2-911C44CF4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Things that went well</a:t>
            </a:r>
          </a:p>
          <a:p>
            <a:pPr lvl="1"/>
            <a:r>
              <a:rPr lang="en-US" dirty="0"/>
              <a:t>Overlapping of workflow and prototyping sped up production.</a:t>
            </a:r>
          </a:p>
          <a:p>
            <a:pPr lvl="1"/>
            <a:r>
              <a:rPr lang="en-US" dirty="0"/>
              <a:t>Got into a rhythm after getting a few key features implemented on the front-end.</a:t>
            </a:r>
          </a:p>
          <a:p>
            <a:pPr lvl="1"/>
            <a:r>
              <a:rPr lang="en-US" dirty="0"/>
              <a:t>Generally met key deadlines towards the end of the project</a:t>
            </a:r>
          </a:p>
          <a:p>
            <a:pPr lvl="2"/>
            <a:r>
              <a:rPr lang="en-US" dirty="0"/>
              <a:t>Functionality Prototype</a:t>
            </a:r>
          </a:p>
          <a:p>
            <a:pPr lvl="2"/>
            <a:r>
              <a:rPr lang="en-US" dirty="0"/>
              <a:t>Final CSS Formatting by Lab Group Check-In</a:t>
            </a:r>
          </a:p>
          <a:p>
            <a:r>
              <a:rPr lang="en-US" dirty="0"/>
              <a:t>Things that could have gone better</a:t>
            </a:r>
          </a:p>
          <a:p>
            <a:pPr lvl="1"/>
            <a:r>
              <a:rPr lang="en-US" dirty="0"/>
              <a:t>git took time to adjust to, which slowed testing of features.</a:t>
            </a:r>
          </a:p>
          <a:p>
            <a:pPr lvl="1"/>
            <a:r>
              <a:rPr lang="en-US" dirty="0"/>
              <a:t>Missing a critical requirement (limit on loading contact table) late in the project.</a:t>
            </a:r>
          </a:p>
          <a:p>
            <a:pPr lvl="2"/>
            <a:r>
              <a:rPr lang="en-US" dirty="0"/>
              <a:t>Challenge with table paging edge-case</a:t>
            </a:r>
          </a:p>
          <a:p>
            <a:pPr lvl="1"/>
            <a:r>
              <a:rPr lang="en-US" dirty="0"/>
              <a:t>CSS formatting for mobile device.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372A4FF-4BD1-9EC5-E6BF-39C8DBCF717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738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CB8B-C852-CD2A-DEC4-D6924E542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F9DDCEF7-6FC0-3A74-77FA-B1B173DEAAD4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31713-C457-8A35-46F1-2AEB196D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AA1E0-F118-C481-BAA1-FFB10F98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Database Overview</a:t>
            </a:r>
            <a:endParaRPr lang="en-US" dirty="0"/>
          </a:p>
          <a:p>
            <a:pPr lvl="1"/>
            <a:r>
              <a:rPr lang="en-US"/>
              <a:t>Database Description</a:t>
            </a:r>
          </a:p>
          <a:p>
            <a:pPr lvl="2"/>
            <a:r>
              <a:rPr lang="en-US"/>
              <a:t>Uses a MySQL database, which uses a query language that prioritizes relationships between tables and </a:t>
            </a:r>
            <a:r>
              <a:rPr lang="en-US" dirty="0"/>
              <a:t>information</a:t>
            </a:r>
          </a:p>
          <a:p>
            <a:pPr lvl="1"/>
            <a:r>
              <a:rPr lang="en-US"/>
              <a:t>Design Decisions</a:t>
            </a:r>
            <a:endParaRPr lang="en-US" dirty="0"/>
          </a:p>
          <a:p>
            <a:pPr lvl="2"/>
            <a:r>
              <a:rPr lang="en-US" dirty="0"/>
              <a:t>Enforced unique constraint on unique fields, i.e. usernames</a:t>
            </a:r>
          </a:p>
          <a:p>
            <a:pPr lvl="2"/>
            <a:r>
              <a:rPr lang="en-US"/>
              <a:t>Uses foreign keys to reference owners of contacts</a:t>
            </a:r>
            <a:endParaRPr lang="en-US" dirty="0"/>
          </a:p>
          <a:p>
            <a:pPr lvl="2"/>
            <a:r>
              <a:rPr lang="en-US" dirty="0"/>
              <a:t>Cascading deletes upon removal of user</a:t>
            </a:r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3AE16834-67D2-6147-4E73-B62D2BB5CF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718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A6EC-84BA-5020-8E18-28FA8BA9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942D3181-ADA3-CAE5-F72E-EC582311CAF0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1B955-76A0-1268-4A15-BCDBDC6C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CCAD-A8BF-B46C-0224-7D89FC61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Database Overview</a:t>
            </a:r>
            <a:endParaRPr lang="en-US" dirty="0"/>
          </a:p>
          <a:p>
            <a:pPr lvl="1"/>
            <a:r>
              <a:rPr lang="en-US" dirty="0"/>
              <a:t>MySQL</a:t>
            </a:r>
          </a:p>
          <a:p>
            <a:pPr lvl="2"/>
            <a:r>
              <a:rPr lang="en-US" dirty="0"/>
              <a:t>A relational database management system for SQL </a:t>
            </a:r>
            <a:r>
              <a:rPr lang="en-US"/>
              <a:t>databases</a:t>
            </a:r>
            <a:endParaRPr lang="en-US" dirty="0"/>
          </a:p>
          <a:p>
            <a:pPr lvl="2"/>
            <a:r>
              <a:rPr lang="en-US"/>
              <a:t>Abstracts the storing and managing of data</a:t>
            </a:r>
            <a:endParaRPr lang="en-US" dirty="0"/>
          </a:p>
          <a:p>
            <a:pPr lvl="2"/>
            <a:r>
              <a:rPr lang="en-US" dirty="0"/>
              <a:t>Primarily </a:t>
            </a:r>
            <a:r>
              <a:rPr lang="en-US"/>
              <a:t>interactable via CLI in the droplet</a:t>
            </a:r>
            <a:endParaRPr lang="en-US" dirty="0"/>
          </a:p>
          <a:p>
            <a:pPr lvl="2"/>
            <a:r>
              <a:rPr lang="en-US"/>
              <a:t>Compatible with MySQL Workbench to manage the database with a GUI</a:t>
            </a:r>
            <a:endParaRPr lang="en-US" dirty="0"/>
          </a:p>
          <a:p>
            <a:pPr lvl="1"/>
            <a:r>
              <a:rPr lang="en-US" dirty="0"/>
              <a:t>Entity Relationship Diagram (ERD)</a:t>
            </a:r>
          </a:p>
          <a:p>
            <a:pPr lvl="2"/>
            <a:r>
              <a:rPr lang="en-US"/>
              <a:t>A useful tool for visualizing relationships between entities in a database.</a:t>
            </a:r>
          </a:p>
          <a:p>
            <a:pPr lvl="2"/>
            <a:r>
              <a:rPr lang="en-US"/>
              <a:t>Outlines primary keys, foreign keys, data types, and entity counts.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C6869532-FB68-1D86-77DB-5C5DA83FB8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068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D6FE-5DD3-895F-ACD4-FD170614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E5B46E6C-B3FF-00DD-CBAA-A2ACA0BD7E05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067DD2-6EB1-CB02-4A35-8BCCE1FC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F066-BA67-5D7E-939F-155A8249E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Entity</a:t>
            </a:r>
            <a:r>
              <a:rPr lang="en-US" dirty="0"/>
              <a:t> Relationship Diagram (ERD)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26BD709C-3752-D55C-B76C-C687F994306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711CCA-4BE3-1E4D-C026-4D72A5FBB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8" y="2309813"/>
            <a:ext cx="64103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9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30476-DDD9-00CB-99F9-701BD55F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79FC47C8-772D-921D-6A7F-19F07EEB97F9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A95A8-A73F-B823-2AF2-C11381886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9654D-0939-1CAC-04E7-8C00CDF98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Database AI Disclosure</a:t>
            </a:r>
          </a:p>
          <a:p>
            <a:pPr lvl="1"/>
            <a:r>
              <a:rPr lang="en-US" dirty="0"/>
              <a:t>ChatGPT-5.2:</a:t>
            </a:r>
          </a:p>
          <a:p>
            <a:pPr lvl="2"/>
            <a:r>
              <a:rPr lang="en-US" dirty="0"/>
              <a:t>Used to get a basic grasp on SQL and simple query statements and verifying safety and security of statements</a:t>
            </a:r>
          </a:p>
          <a:p>
            <a:pPr lvl="2"/>
            <a:r>
              <a:rPr lang="en-US" dirty="0"/>
              <a:t>Generated 100 test entries for contacts table for demonstration and pagination testing</a:t>
            </a:r>
          </a:p>
          <a:p>
            <a:pPr lvl="2"/>
            <a:r>
              <a:rPr lang="en-US" dirty="0"/>
              <a:t>Sanity-checked for editing deployed database tables to preserve data</a:t>
            </a:r>
          </a:p>
          <a:p>
            <a:pPr lvl="2"/>
            <a:r>
              <a:rPr lang="en-US" dirty="0"/>
              <a:t>Error code translation and general debugging.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CD740CA0-92F7-0E43-3442-6F889C49CC0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713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D623-A09D-0CB1-CFB6-3D83021F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7BBAD2E9-B41C-226A-95AD-0D38F03F2D7E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2675D-A3DA-335A-F135-F81F6320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E5108-11A0-46F0-C14E-6CFD456CB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dirty="0"/>
              <a:t>API Overview</a:t>
            </a:r>
          </a:p>
          <a:p>
            <a:pPr lvl="2"/>
            <a:r>
              <a:rPr lang="en-US" dirty="0"/>
              <a:t>REST API</a:t>
            </a:r>
          </a:p>
          <a:p>
            <a:pPr lvl="2"/>
            <a:r>
              <a:rPr lang="en-US" dirty="0"/>
              <a:t>JSON Client-Server Communication</a:t>
            </a:r>
          </a:p>
          <a:p>
            <a:pPr lvl="2"/>
            <a:r>
              <a:rPr lang="en-US" dirty="0"/>
              <a:t>PHP</a:t>
            </a:r>
          </a:p>
          <a:p>
            <a:pPr lvl="2"/>
            <a:r>
              <a:rPr lang="en-US" dirty="0" err="1"/>
              <a:t>SwaggerHub</a:t>
            </a:r>
            <a:endParaRPr lang="en-US" dirty="0"/>
          </a:p>
          <a:p>
            <a:pPr lvl="2"/>
            <a:r>
              <a:rPr lang="en-US" dirty="0"/>
              <a:t>Postman</a:t>
            </a:r>
          </a:p>
          <a:p>
            <a:pPr lvl="2"/>
            <a:r>
              <a:rPr lang="en-US" dirty="0"/>
              <a:t>AI Disclosure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6C928EE-673F-AE86-77CC-057CCEC858C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5215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26C2-8190-BB66-6C26-B2585B87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129F308E-0209-F35D-6098-64247B221878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B2F69-7131-2F55-4570-8C5F98259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B9999-1D52-E030-C3C2-BA169A91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dirty="0"/>
              <a:t>Authentication APIs</a:t>
            </a:r>
          </a:p>
          <a:p>
            <a:pPr marL="1314450" lvl="2"/>
            <a:r>
              <a:rPr lang="en-US" sz="2400" dirty="0"/>
              <a:t>Login</a:t>
            </a:r>
          </a:p>
          <a:p>
            <a:pPr marL="1771650" lvl="3"/>
            <a:r>
              <a:rPr lang="en-US" sz="2400" dirty="0"/>
              <a:t>Checks for an existing user in database matching credentials, and returns the user's ID, first name, and last name</a:t>
            </a:r>
          </a:p>
          <a:p>
            <a:pPr marL="1314450" lvl="2"/>
            <a:r>
              <a:rPr lang="en-US" sz="2400" dirty="0"/>
              <a:t>Sign-up</a:t>
            </a:r>
          </a:p>
          <a:p>
            <a:pPr marL="1771650" lvl="3"/>
            <a:r>
              <a:rPr lang="en-US" sz="2400" dirty="0"/>
              <a:t>Ensures no user exists with the same username, then creates one using the provided info.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617932C7-F19F-D0A9-BBE2-BA58A318CCD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5457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641F-0B60-E631-AD75-14ACD2FEA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AA3D13E4-7084-C637-256F-E8A377BC8BD5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D3559-9573-DBD3-12CD-0CD463CE7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C0297-1963-B828-0856-798FA2C15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dirty="0"/>
              <a:t>Contact APIs</a:t>
            </a:r>
          </a:p>
          <a:p>
            <a:pPr lvl="2"/>
            <a:r>
              <a:rPr lang="en-US" sz="2400" dirty="0"/>
              <a:t>Add</a:t>
            </a:r>
          </a:p>
          <a:p>
            <a:pPr lvl="3"/>
            <a:r>
              <a:rPr lang="en-US" sz="2400" dirty="0"/>
              <a:t>Validates and inserts the provided contact info into the database</a:t>
            </a:r>
          </a:p>
          <a:p>
            <a:pPr lvl="2"/>
            <a:r>
              <a:rPr lang="en-US" sz="2400" dirty="0"/>
              <a:t>Search</a:t>
            </a:r>
          </a:p>
          <a:p>
            <a:pPr lvl="3"/>
            <a:r>
              <a:rPr lang="en-US" sz="2400" dirty="0"/>
              <a:t>Searches using the first and/or last name provided, and displays contacts in order of best match</a:t>
            </a:r>
          </a:p>
          <a:p>
            <a:pPr lvl="2"/>
            <a:r>
              <a:rPr lang="en-US" sz="2400" dirty="0"/>
              <a:t>Update</a:t>
            </a:r>
          </a:p>
          <a:p>
            <a:pPr lvl="3"/>
            <a:r>
              <a:rPr lang="en-US" sz="2400" dirty="0"/>
              <a:t>Changes a contact to match new contact info</a:t>
            </a:r>
          </a:p>
          <a:p>
            <a:pPr lvl="2"/>
            <a:r>
              <a:rPr lang="en-US" sz="2400" dirty="0"/>
              <a:t>See</a:t>
            </a:r>
          </a:p>
          <a:p>
            <a:pPr lvl="3"/>
            <a:r>
              <a:rPr lang="en-US" sz="2400" dirty="0"/>
              <a:t>Displays all contacts with respect to the page number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255B3673-3FB1-CCEF-D12F-ABC386A97AE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890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ECFBA-8664-698C-35FE-A0FDF801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987D7C86-5390-534D-4591-E44B16617D30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EABAA-09BB-5143-B700-EB0A0244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2E69E-8A8B-696C-CC1B-937B820FC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sz="1600" dirty="0"/>
              <a:t>Documentation</a:t>
            </a:r>
          </a:p>
          <a:p>
            <a:pPr lvl="1"/>
            <a:r>
              <a:rPr lang="en-US" sz="1600" dirty="0"/>
              <a:t>e.g. </a:t>
            </a:r>
            <a:r>
              <a:rPr lang="en-US" sz="1600" dirty="0" err="1"/>
              <a:t>signup.php</a:t>
            </a:r>
            <a:endParaRPr lang="en-US" sz="1600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16023213-99EE-CB99-0C76-A9EA5A19FA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5F4BCA3C-755C-0654-F7FF-08784CD66944}"/>
              </a:ext>
            </a:extLst>
          </p:cNvPr>
          <p:cNvSpPr/>
          <p:nvPr/>
        </p:nvSpPr>
        <p:spPr>
          <a:xfrm>
            <a:off x="2742928" y="1603742"/>
            <a:ext cx="56692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user accounts with validation and duplicate detection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1F35B9DF-088F-266F-02A4-A6AAC8B42B22}"/>
              </a:ext>
            </a:extLst>
          </p:cNvPr>
          <p:cNvSpPr/>
          <p:nvPr/>
        </p:nvSpPr>
        <p:spPr>
          <a:xfrm>
            <a:off x="2744535" y="4401486"/>
            <a:ext cx="34330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Codes Demonstrated:</a:t>
            </a:r>
            <a:endParaRPr lang="en-US" sz="18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8BF0786-5BCE-870B-A6E6-AAE79D440AE2}"/>
              </a:ext>
            </a:extLst>
          </p:cNvPr>
          <p:cNvSpPr/>
          <p:nvPr/>
        </p:nvSpPr>
        <p:spPr>
          <a:xfrm>
            <a:off x="2784640" y="4853973"/>
            <a:ext cx="2560320" cy="164592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0BCFE1B-65F3-299A-04D1-CFB5EA4E0DB5}"/>
              </a:ext>
            </a:extLst>
          </p:cNvPr>
          <p:cNvSpPr/>
          <p:nvPr/>
        </p:nvSpPr>
        <p:spPr>
          <a:xfrm>
            <a:off x="2784640" y="528139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2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09FF0C7C-EB1B-3040-EF0F-455F1998D2CC}"/>
              </a:ext>
            </a:extLst>
          </p:cNvPr>
          <p:cNvSpPr/>
          <p:nvPr/>
        </p:nvSpPr>
        <p:spPr>
          <a:xfrm>
            <a:off x="2784640" y="5687061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Created</a:t>
            </a:r>
            <a:endParaRPr lang="en-US" sz="14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31777FF-8BD4-379E-0C27-BFB446D499C7}"/>
              </a:ext>
            </a:extLst>
          </p:cNvPr>
          <p:cNvSpPr/>
          <p:nvPr/>
        </p:nvSpPr>
        <p:spPr>
          <a:xfrm>
            <a:off x="5615269" y="4866506"/>
            <a:ext cx="2560320" cy="164592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7D65C6E0-37EC-AB5B-772E-376BDD4AA136}"/>
              </a:ext>
            </a:extLst>
          </p:cNvPr>
          <p:cNvSpPr/>
          <p:nvPr/>
        </p:nvSpPr>
        <p:spPr>
          <a:xfrm>
            <a:off x="5651363" y="526074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320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15984467-3FFE-BAA8-3EEC-1B667EBC1386}"/>
              </a:ext>
            </a:extLst>
          </p:cNvPr>
          <p:cNvSpPr/>
          <p:nvPr/>
        </p:nvSpPr>
        <p:spPr>
          <a:xfrm>
            <a:off x="5579175" y="571032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Fields</a:t>
            </a:r>
            <a:endParaRPr lang="en-US" sz="14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FBF610A4-32ED-6866-6B11-8AEEC6B0400E}"/>
              </a:ext>
            </a:extLst>
          </p:cNvPr>
          <p:cNvSpPr/>
          <p:nvPr/>
        </p:nvSpPr>
        <p:spPr>
          <a:xfrm>
            <a:off x="8486005" y="4866506"/>
            <a:ext cx="2560320" cy="164592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50E4C1A3-6102-0B9B-CB4D-42270B78A579}"/>
              </a:ext>
            </a:extLst>
          </p:cNvPr>
          <p:cNvSpPr/>
          <p:nvPr/>
        </p:nvSpPr>
        <p:spPr>
          <a:xfrm>
            <a:off x="8558193" y="525312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32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4A43D08-75EC-FFD1-B912-F31CB3B49A69}"/>
              </a:ext>
            </a:extLst>
          </p:cNvPr>
          <p:cNvSpPr/>
          <p:nvPr/>
        </p:nvSpPr>
        <p:spPr>
          <a:xfrm>
            <a:off x="8413817" y="5698691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Exists</a:t>
            </a:r>
            <a:endParaRPr lang="en-US" sz="1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A926578-50F1-6411-959D-B101BEA34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535" y="1957818"/>
            <a:ext cx="3956338" cy="24719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35C358F-07F2-386A-3504-EAA7F449A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940" y="1906535"/>
            <a:ext cx="2217609" cy="285289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9E570E6-CF1B-BBB3-846D-73D8ED875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353" y="1860720"/>
            <a:ext cx="2058194" cy="292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5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573D-E99F-61DE-D84C-490187A4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E8D8B98D-CAD4-289B-6E9B-538912C551E9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0CA31-90AD-BB9E-B4D4-B70EEF055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EFCED-EE9C-0869-43FE-AA30F218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API</a:t>
            </a:r>
          </a:p>
          <a:p>
            <a:pPr lvl="1"/>
            <a:r>
              <a:rPr lang="en-US" dirty="0"/>
              <a:t>API End-Point Demonstration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22BB116A-2834-6AF8-F147-79753AE85E6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704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4D3-E5AE-D3F4-EC2B-068A87FE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7BD115DD-E986-F3E8-EF99-78631B6824BF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E8DF8-0E98-D792-FF65-DCB8EE02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30B5-1FBA-A1DF-DB18-CEBC532E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Front-End</a:t>
            </a:r>
          </a:p>
          <a:p>
            <a:pPr lvl="1"/>
            <a:r>
              <a:rPr lang="en-US" dirty="0"/>
              <a:t>Vanilla JavaScript</a:t>
            </a:r>
          </a:p>
          <a:p>
            <a:pPr lvl="1"/>
            <a:r>
              <a:rPr lang="en-US" dirty="0"/>
              <a:t>HTML</a:t>
            </a:r>
          </a:p>
          <a:p>
            <a:pPr lvl="1"/>
            <a:r>
              <a:rPr lang="en-US" dirty="0"/>
              <a:t>Cookie-based Session Management</a:t>
            </a:r>
          </a:p>
          <a:p>
            <a:pPr lvl="1"/>
            <a:r>
              <a:rPr lang="en-US" dirty="0"/>
              <a:t>CSS and Bootstrap 5</a:t>
            </a:r>
          </a:p>
          <a:p>
            <a:pPr lvl="1"/>
            <a:r>
              <a:rPr lang="en-US" dirty="0"/>
              <a:t>AJAX (asynchronous API calls using </a:t>
            </a:r>
            <a:r>
              <a:rPr lang="en-US" dirty="0" err="1"/>
              <a:t>XMLHttpRequest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Local Development (XAMPP for MySQL, PHP built-in server)</a:t>
            </a:r>
          </a:p>
          <a:p>
            <a:pPr lvl="1"/>
            <a:r>
              <a:rPr lang="en-US" dirty="0"/>
              <a:t>AI Disclosure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93A76110-8A68-9F81-08D7-EBA944A3C8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9915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6D09-7642-7279-D83D-C506A053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D473E8A5-8B1D-EE8B-9801-ABE59FCAB8DF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72F17-36EE-9144-8A70-B5F5FD41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D4897-C29E-2709-801A-7B28DD48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Front-End</a:t>
            </a:r>
          </a:p>
          <a:p>
            <a:pPr lvl="1"/>
            <a:r>
              <a:rPr lang="en-US" dirty="0"/>
              <a:t>Web App Demonstration</a:t>
            </a:r>
          </a:p>
          <a:p>
            <a:pPr lvl="1"/>
            <a:endParaRPr lang="en-US" dirty="0"/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DC0BE647-2E02-34E6-3A65-1B3D542A788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4723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01DD-AA63-ECBD-1E4F-4785BCB8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F7BC18A0-B563-2EC4-08D3-B8C38DBD7F27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522C4-3283-5447-A610-8999BC80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30E8-B870-B199-D199-E67C62C6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711325"/>
            <a:ext cx="6254750" cy="479107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Lighthouse </a:t>
            </a:r>
            <a:r>
              <a:rPr lang="en-US"/>
              <a:t>Accessibility</a:t>
            </a:r>
            <a:r>
              <a:rPr lang="en-US" dirty="0"/>
              <a:t> Report</a:t>
            </a:r>
          </a:p>
          <a:p>
            <a:pPr lvl="1"/>
            <a:r>
              <a:rPr lang="en-US"/>
              <a:t>Lighthouse is an automated tool for assessing the accessibility of your website</a:t>
            </a:r>
          </a:p>
          <a:p>
            <a:pPr lvl="1"/>
            <a:r>
              <a:rPr lang="en-US" dirty="0"/>
              <a:t>Grades accessibility via categories </a:t>
            </a:r>
            <a:r>
              <a:rPr lang="en-US"/>
              <a:t>like contrast, element placement, keyboard controls, and logical ordering of elements.</a:t>
            </a:r>
            <a:endParaRPr lang="en-US" dirty="0"/>
          </a:p>
          <a:p>
            <a:pPr lvl="1"/>
            <a:r>
              <a:rPr lang="en-US"/>
              <a:t>Detected minimal issues, with some outlined warnings being false positives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BEDFEC63-7A92-5E39-56AA-842084EEAF8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65CB2F-1F77-45A9-2E70-A4C241D98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333" y="1711492"/>
            <a:ext cx="497205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01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9B91-507B-EC7A-CAAB-BD7E495B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4;p13">
            <a:extLst>
              <a:ext uri="{FF2B5EF4-FFF2-40B4-BE49-F238E27FC236}">
                <a16:creationId xmlns:a16="http://schemas.microsoft.com/office/drawing/2014/main" id="{E451958D-A75F-1889-5BCC-0D4E1C6A0D29}"/>
              </a:ext>
            </a:extLst>
          </p:cNvPr>
          <p:cNvSpPr/>
          <p:nvPr/>
        </p:nvSpPr>
        <p:spPr>
          <a:xfrm>
            <a:off x="281133" y="1570036"/>
            <a:ext cx="11644167" cy="506174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7B9A0-DD83-9742-6F58-314C57A7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43818"/>
          </a:xfrm>
          <a:solidFill>
            <a:srgbClr val="1255CE"/>
          </a:solidFill>
        </p:spPr>
        <p:txBody>
          <a:bodyPr>
            <a:normAutofit fontScale="90000"/>
          </a:bodyPr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>
                <a:solidFill>
                  <a:schemeClr val="bg1"/>
                </a:solidFill>
              </a:rPr>
              <a:t>COP 4331 - Small Project - Group 7</a:t>
            </a:r>
            <a:br>
              <a:rPr lang="en-US" b="1" dirty="0">
                <a:solidFill>
                  <a:srgbClr val="D9D9D9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0A8F2-522C-2D42-672C-259BD434D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63700"/>
            <a:ext cx="11417300" cy="4838700"/>
          </a:xfrm>
          <a:solidFill>
            <a:schemeClr val="bg1"/>
          </a:solidFill>
        </p:spPr>
        <p:txBody>
          <a:bodyPr/>
          <a:lstStyle/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sz="5200" dirty="0"/>
              <a:t>Questions?</a:t>
            </a:r>
          </a:p>
        </p:txBody>
      </p:sp>
      <p:pic>
        <p:nvPicPr>
          <p:cNvPr id="5" name="Google Shape;57;p13" title="logo.png">
            <a:extLst>
              <a:ext uri="{FF2B5EF4-FFF2-40B4-BE49-F238E27FC236}">
                <a16:creationId xmlns:a16="http://schemas.microsoft.com/office/drawing/2014/main" id="{EFECECC8-FF6E-9C14-1DDB-5D170F253A3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133" y="226218"/>
            <a:ext cx="923365" cy="9096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3925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941</Words>
  <Application>Microsoft Macintosh PowerPoint</Application>
  <PresentationFormat>Widescreen</PresentationFormat>
  <Paragraphs>156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Lucky Retriever Contacts</vt:lpstr>
      <vt:lpstr>                 COP 4331 - Small Project - Group 7 </vt:lpstr>
      <vt:lpstr>                 COP 4331 - Small Project - Group 7 </vt:lpstr>
      <vt:lpstr> 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  <vt:lpstr>                 COP 4331 - Small Project - Group 7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Denise Lintereur</dc:creator>
  <cp:lastModifiedBy>Denise Lintereur</cp:lastModifiedBy>
  <cp:revision>308</cp:revision>
  <dcterms:created xsi:type="dcterms:W3CDTF">2026-02-12T01:31:45Z</dcterms:created>
  <dcterms:modified xsi:type="dcterms:W3CDTF">2026-02-19T22:29:38Z</dcterms:modified>
</cp:coreProperties>
</file>